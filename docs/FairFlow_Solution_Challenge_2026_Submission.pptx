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3400" b="1">
                <a:solidFill>
                  <a:srgbClr val="1F2937"/>
                </a:solidFill>
                <a:latin typeface="Calibri"/>
              </a:rPr>
              <a:t>FairFlow AI: Continuous Fairness Pipeline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sz="100" b="0">
                <a:solidFill>
                  <a:srgbClr val="1F2937"/>
                </a:solidFill>
                <a:latin typeface="Calibri"/>
              </a:rPr>
              <a:t/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" b="0">
                <a:solidFill>
                  <a:srgbClr val="1F2937"/>
                </a:solidFill>
                <a:latin typeface="Calibri"/>
              </a:rPr>
              <a:t/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320040" y="1691640"/>
            <a:ext cx="84124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Google Solution Challenge 2026 Submission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Privacy-first AI fairness governance platform for hiring, lending, and healthcare.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C++/WASM local precheck + FastAPI fairness engine + governance memory + mitigation workflows.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3840480"/>
            <a:ext cx="8412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Build with AI Track | Problem Statement: [Unbiased AI Decision] Open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00" b="0">
                <a:solidFill>
                  <a:srgbClr val="1F2937"/>
                </a:solidFill>
                <a:latin typeface="Calibri"/>
              </a:rP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Rectangle 110"/>
          <p:cNvSpPr/>
          <p:nvPr/>
        </p:nvSpPr>
        <p:spPr>
          <a:xfrm>
            <a:off x="411480" y="2514600"/>
            <a:ext cx="82296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Team Details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Team name: FairFlow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Team leader name: Akshat Agrawal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Problem Statement: [Unbiased AI Decision] Open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Brief About 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Rectangle 116"/>
          <p:cNvSpPr/>
          <p:nvPr/>
        </p:nvSpPr>
        <p:spPr>
          <a:xfrm>
            <a:off x="502920" y="1325880"/>
            <a:ext cx="813816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FairFlow AI is a full-stack fairness auditing and governance platform for AI-led decisions.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It helps teams detect, explain, and mitigate bias before decisions impact real people.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What we built end-to-end: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Domain-agnostic auditing for Hiring, Lending, and Healthcare datasets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Local C++/WASM privacy shield (PII hashing + schema precheck in browser)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Bias metrics (DI, SPD, Equal Opportunity, Average Odds) + SHAP + counterfactuals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Mitigation workflows (reweighing / prejudice remover / equalized odds)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• Governance memory, DP-ready reporting, and certificate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Opportunities and Differentiation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Rounded Rectangle 122"/>
          <p:cNvSpPr/>
          <p:nvPr/>
        </p:nvSpPr>
        <p:spPr>
          <a:xfrm>
            <a:off x="502920" y="1325880"/>
            <a:ext cx="25603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How different are we?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Most tools are offline notebooks.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FairFlow offers a decision-ready UI with explainability and governance built in.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46120" y="1325880"/>
            <a:ext cx="25603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How does it solve the problem?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Local privacy precheck blocks raw PII egress.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Real-time fairness diagnostics guide safe actions before rollout.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989320" y="1325880"/>
            <a:ext cx="25603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USP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Domain templates + schema mapping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Governance memory + mitigation recommendations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Compliance-friendly PDF and audit certificate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Rectangle 128"/>
          <p:cNvSpPr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1) Domain selector + auto schema detection (Hiring / Lending / Healthcare / Custom)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2) Browser-side WASM privacy shield for PII tokenization and local precheck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3) Upload pipeline with clear schema validation and guided errors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4) Fairness metric engine (DI, SPD, EOD, AOD) using Fairlearn + AIF360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5) Candidate-level SHAP explanation and proxy-feature flags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6) Counterfactual simulation to test protected-attribute sensitivity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7) Mitigation center with comparative strategy analysis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8) Governance intelligence view with memory-driven risk context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9) Differentially private report export + immutable certificate hash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10) Authenticated multi-user dashboard with audit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Process Flow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Rounded Rectangle 134"/>
          <p:cNvSpPr/>
          <p:nvPr/>
        </p:nvSpPr>
        <p:spPr>
          <a:xfrm>
            <a:off x="411480" y="1874519"/>
            <a:ext cx="118872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1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Domain + CSV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783080" y="1874519"/>
            <a:ext cx="1188720" cy="10515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2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WASM Precheck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154680" y="1874519"/>
            <a:ext cx="1188720" cy="10515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3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Bias Audit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526280" y="1874519"/>
            <a:ext cx="1188720" cy="10515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4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897880" y="1874519"/>
            <a:ext cx="1188720" cy="10515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5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269480" y="1874519"/>
            <a:ext cx="1188720" cy="10515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Step 6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Governance + Report</a:t>
            </a:r>
          </a:p>
        </p:txBody>
      </p:sp>
      <p:sp>
        <p:nvSpPr>
          <p:cNvPr id="141" name="Right Arrow 140"/>
          <p:cNvSpPr/>
          <p:nvPr/>
        </p:nvSpPr>
        <p:spPr>
          <a:xfrm>
            <a:off x="16002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ight Arrow 141"/>
          <p:cNvSpPr/>
          <p:nvPr/>
        </p:nvSpPr>
        <p:spPr>
          <a:xfrm>
            <a:off x="29718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ight Arrow 142"/>
          <p:cNvSpPr/>
          <p:nvPr/>
        </p:nvSpPr>
        <p:spPr>
          <a:xfrm>
            <a:off x="43434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ight Arrow 143"/>
          <p:cNvSpPr/>
          <p:nvPr/>
        </p:nvSpPr>
        <p:spPr>
          <a:xfrm>
            <a:off x="57150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ight Arrow 144"/>
          <p:cNvSpPr/>
          <p:nvPr/>
        </p:nvSpPr>
        <p:spPr>
          <a:xfrm>
            <a:off x="7086600" y="2267712"/>
            <a:ext cx="411480" cy="25603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594360" y="3200400"/>
            <a:ext cx="7498079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Every stage is logged for traceability: input schema, metric outputs, mitigation results, and governance summary.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Wireframes / Mock Screens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Rounded Rectangle 140"/>
          <p:cNvSpPr/>
          <p:nvPr/>
        </p:nvSpPr>
        <p:spPr>
          <a:xfrm>
            <a:off x="502920" y="1417320"/>
            <a:ext cx="36576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A. Secure Sign-in + Workspace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Email auth, session token, role-ready navigation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434840" y="1417320"/>
            <a:ext cx="36576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B. Upload + Domain Mapping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2-step flow with schema checks and upload status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02920" y="2880360"/>
            <a:ext cx="36576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C. Dashboard + Mitigation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Fairness scores, strategy comparison, recommendation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434840" y="2880360"/>
            <a:ext cx="36576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D. Governance Intelligence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Plain-language verdict and audit memory timeline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Rounded Rectangle 146"/>
          <p:cNvSpPr/>
          <p:nvPr/>
        </p:nvSpPr>
        <p:spPr>
          <a:xfrm>
            <a:off x="640080" y="1325880"/>
            <a:ext cx="7498079" cy="64008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40AF"/>
                </a:solidFill>
                <a:latin typeface="Calibri"/>
              </a:rPr>
              <a:t>Client Layer: React 18 / Flutter + C++ WASM Privacy Shield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40080" y="2057400"/>
            <a:ext cx="7498079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65F46"/>
                </a:solidFill>
                <a:latin typeface="Calibri"/>
              </a:rPr>
              <a:t>API Layer: FastAPI + JWT + Domain Templates + Validation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40080" y="2788920"/>
            <a:ext cx="7498079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92400E"/>
                </a:solidFill>
                <a:latin typeface="Calibri"/>
              </a:rPr>
              <a:t>AI/ML Layer: Fairlearn, AIF360, SHAP, Counterfactuals, DoWhy, LangGraph, Gemini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0080" y="3520440"/>
            <a:ext cx="7498079" cy="640080"/>
          </a:xfrm>
          <a:prstGeom prst="roundRect">
            <a:avLst/>
          </a:prstGeom>
          <a:solidFill>
            <a:srgbClr val="EDE9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C1D95"/>
                </a:solidFill>
                <a:latin typeface="Calibri"/>
              </a:rPr>
              <a:t>Data &amp; Trust Layer: PostgreSQL, Audit Memories, DP Reports, SHA-256 Certificates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548640" y="141732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801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React 18, Tailwind, Recharts, Headless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Interactive dashboards and visual fairness analytics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Flutter (prototype track)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Mobile workflow for submission/use-case demos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FastAPI, SQLAlchemy, JWT, Docker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API, auth, orchestration, and deployment-ready services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Fairlearn, AIF360, SHAP, DoWhy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Metric computation, explainability, causal/proxy analysis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AI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LangGraph + local memory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Governance recommendations with historical context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Cloud/LLM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Gemini 1.5 Flash, Vertex AI, 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Multimodal reasoning and scalable production path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Estimated Implementation Cost (MVP to Pilot)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Table 158"/>
          <p:cNvGraphicFramePr>
            <a:graphicFrameLocks noGrp="1"/>
          </p:cNvGraphicFramePr>
          <p:nvPr/>
        </p:nvGraphicFramePr>
        <p:xfrm>
          <a:off x="731520" y="1417320"/>
          <a:ext cx="76809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24542"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Estimated Monthly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Calibri"/>
                        </a:rPr>
                        <a:t>Notes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$0 - 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Scale-to-zero for prototype traffic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Cloud SQL / 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$7 - 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Small instance enough for pilot data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Gemini / Vertex AI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$5 - $30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Depends on Q&amp;A/report generation volume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Storage + certificates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$1 - 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Reports and logs</a:t>
                      </a:r>
                    </a:p>
                  </a:txBody>
                  <a:tcPr/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Monitoring +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$0 - 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Free tier for early stage</a:t>
                      </a:r>
                    </a:p>
                  </a:txBody>
                  <a:tcPr/>
                </a:tc>
              </a:tr>
              <a:tr h="424548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Total (prototype to pilot)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$13 - $90 /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Cost grows with team size and audit frequency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Snapshots of the MVP (Implemented + Tested)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Rounded Rectangle 164"/>
          <p:cNvSpPr/>
          <p:nvPr/>
        </p:nvSpPr>
        <p:spPr>
          <a:xfrm>
            <a:off x="502920" y="1371600"/>
            <a:ext cx="388620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Execution Proof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Working modules verified on localhost: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Auth: sign-up, sign-in, protected routes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Domain templates API and 2-step upload flow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Audit pipeline with candidate explanations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Mitigation route + governance screen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Sample hiring audit (200 rows):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DI: 0.6585 | SPD: -0.1556 | EOD: 0.0000 | AOD: 0.0000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Bias flag generated and candidate-level details stored.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526280" y="1371600"/>
            <a:ext cx="365760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Cross-domain Validation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Domain-agnostic support validated: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Hiring schema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Lending schema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Healthcare schema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Sample lending audit (200 rows):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DI: 0.8010 | SPD: -0.1057 | EOD: 0.0000 | AOD: 0.0000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WASM precheck and backend logs confirm end-to-end 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3000" b="1">
                <a:solidFill>
                  <a:srgbClr val="1F2937"/>
                </a:solidFill>
                <a:latin typeface="Calibri"/>
              </a:rPr>
              <a:t>Additional Details / Future Development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Rectangle 170"/>
          <p:cNvSpPr/>
          <p:nvPr/>
        </p:nvSpPr>
        <p:spPr>
          <a:xfrm>
            <a:off x="502920" y="1371600"/>
            <a:ext cx="813816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Next 6-8 weeks roadmap: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1) Async audit jobs and progress tracker for heavy SHAP/mitigation runs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2) Real-time bias alerts with threshold configuration per organization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3) Rich governance page: causal proxy graph + memory timeline + plain-language verdict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4) Better mitigation policy selection based on fairness-accuracy tradeoff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5) Judge-ready Cloud Run guest mode (no manual DB setup)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6) Expanded multimodal reasoning with interview audio/video safety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2800" b="1">
                <a:solidFill>
                  <a:srgbClr val="1F2937"/>
                </a:solidFill>
                <a:latin typeface="Calibri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800" b="0">
                <a:solidFill>
                  <a:srgbClr val="334155"/>
                </a:solidFill>
                <a:latin typeface="Calibri"/>
              </a:rPr>
              <a:t/>
            </a:r>
          </a:p>
          <a:p>
            <a:r>
              <a:rPr sz="1900" b="1">
                <a:solidFill>
                  <a:srgbClr val="1F2937"/>
                </a:solidFill>
                <a:latin typeface="Calibri"/>
              </a:rPr>
              <a:t>GitHub Public Repository</a:t>
            </a:r>
          </a:p>
          <a:p>
            <a:r>
              <a:rPr sz="1600" b="0">
                <a:solidFill>
                  <a:srgbClr val="2563EB"/>
                </a:solidFill>
                <a:latin typeface="Calibri"/>
              </a:rPr>
              <a:t>https://github.com/Akshat-coder2106/FairFlow-AI</a:t>
            </a:r>
          </a:p>
          <a:p>
            <a:r>
              <a:rPr sz="700" b="0">
                <a:solidFill>
                  <a:srgbClr val="334155"/>
                </a:solidFill>
                <a:latin typeface="Calibri"/>
              </a:rPr>
              <a:t/>
            </a:r>
          </a:p>
          <a:p>
            <a:r>
              <a:rPr sz="1900" b="1">
                <a:solidFill>
                  <a:srgbClr val="1F2937"/>
                </a:solidFill>
                <a:latin typeface="Calibri"/>
              </a:rPr>
              <a:t>Demo Video Link (3 Minutes)</a:t>
            </a:r>
          </a:p>
          <a:p>
            <a:r>
              <a:rPr sz="1600" b="0">
                <a:solidFill>
                  <a:srgbClr val="334155"/>
                </a:solidFill>
                <a:latin typeface="Calibri"/>
              </a:rPr>
              <a:t>To be attached before final submission</a:t>
            </a:r>
          </a:p>
          <a:p>
            <a:r>
              <a:rPr sz="700" b="0">
                <a:solidFill>
                  <a:srgbClr val="334155"/>
                </a:solidFill>
                <a:latin typeface="Calibri"/>
              </a:rPr>
              <a:t/>
            </a:r>
          </a:p>
          <a:p>
            <a:r>
              <a:rPr sz="1900" b="1">
                <a:solidFill>
                  <a:srgbClr val="1F2937"/>
                </a:solidFill>
                <a:latin typeface="Calibri"/>
              </a:rPr>
              <a:t>MVP Link</a:t>
            </a:r>
          </a:p>
          <a:p>
            <a:r>
              <a:rPr sz="1600" b="0">
                <a:solidFill>
                  <a:srgbClr val="334155"/>
                </a:solidFill>
                <a:latin typeface="Calibri"/>
              </a:rPr>
              <a:t>http://127.0.0.1:3000 (local) | Cloud Run staging: publishing</a:t>
            </a:r>
          </a:p>
          <a:p>
            <a:r>
              <a:rPr sz="700" b="0">
                <a:solidFill>
                  <a:srgbClr val="334155"/>
                </a:solidFill>
                <a:latin typeface="Calibri"/>
              </a:rPr>
              <a:t/>
            </a:r>
          </a:p>
          <a:p>
            <a:r>
              <a:rPr sz="1900" b="1">
                <a:solidFill>
                  <a:srgbClr val="1F2937"/>
                </a:solidFill>
                <a:latin typeface="Calibri"/>
              </a:rPr>
              <a:t>Working Prototype Link</a:t>
            </a:r>
          </a:p>
          <a:p>
            <a:r>
              <a:rPr sz="1600" b="0">
                <a:solidFill>
                  <a:srgbClr val="334155"/>
                </a:solidFill>
                <a:latin typeface="Calibri"/>
              </a:rPr>
              <a:t>Same repository includes frontend, backend, WASM, sample datasets, and docs</a:t>
            </a: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Rounded Rectangle 181"/>
          <p:cNvSpPr/>
          <p:nvPr/>
        </p:nvSpPr>
        <p:spPr>
          <a:xfrm>
            <a:off x="1097280" y="1463040"/>
            <a:ext cx="640080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2563EB"/>
                </a:solidFill>
                <a:latin typeface="Calibri"/>
              </a:rPr>
              <a:t>Ready for Q&amp;A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Thank You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FairFlow AI Team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34155"/>
                </a:solidFill>
                <a:latin typeface="Calibri"/>
              </a:rPr>
              <a:t>Contact: akshatagrawal21april@gmail.com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Rounded Rectangle 186"/>
          <p:cNvSpPr/>
          <p:nvPr/>
        </p:nvSpPr>
        <p:spPr>
          <a:xfrm>
            <a:off x="731520" y="822960"/>
            <a:ext cx="768096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F2937"/>
                </a:solidFill>
                <a:latin typeface="Calibri"/>
              </a:rPr>
              <a:t>Appendix: Metric Definitions and Compliance Context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Fairness definitions used in the engine: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DI = P(y_hat=1 | unprivileged) / P(y_hat=1 | privileged)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SPD = P(y_hat=1 | unprivileged) - P(y_hat=1 | privileged)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Equal Opportunity Difference = TPR_unprivileged - TPR_privileged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Average Odds Difference = 0.5 * [(FPR_u - FPR_p) + (TPR_u - TPR_p)]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4155"/>
                </a:solidFill>
                <a:latin typeface="Calibri"/>
              </a:rPr>
              <a:t>Compliance direction: EU AI Act, NIST AI RMF, DPDP/GDPR-aligned privacy-first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